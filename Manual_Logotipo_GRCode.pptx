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3752" cy="6858000"/>
          </a:xfrm>
          <a:prstGeom prst="rect">
            <a:avLst/>
          </a:prstGeom>
          <a:solidFill>
            <a:srgbClr val="1A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23760" y="0"/>
            <a:ext cx="5486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5486400" cy="2377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14400" y="4206240"/>
            <a:ext cx="5486400" cy="36576"/>
          </a:xfrm>
          <a:prstGeom prst="rect">
            <a:avLst/>
          </a:prstGeom>
          <a:solidFill>
            <a:srgbClr val="1A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MANUAL DO LOGOTIPO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DCDC"/>
                </a:solidFill>
                <a:latin typeface="Arial"/>
              </a:rPr>
              <a:t>Identidade Visual •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01168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Arial"/>
              </a:rPr>
              <a:t>GR
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48463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Soluções em Inteligência
Artificial para Negócios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B7B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CONCEITO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1A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CDCDC"/>
                </a:solidFill>
                <a:latin typeface="Arial"/>
              </a:rPr>
              <a:t>A GRCode é uma empresa especializada em implementação de
Inteligência Artificial para negócios. Atuamos como parceiros
estratégicos na transformação digital, desenvolvendo soluções
de IA que otimizam processos, aumentam a eficiência operacional
e geram resultados concretos para nossos clientes.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846320"/>
            <a:ext cx="3474720" cy="1371600"/>
          </a:xfrm>
          <a:prstGeom prst="rect">
            <a:avLst/>
          </a:prstGeom>
          <a:solidFill>
            <a:srgbClr val="124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846320"/>
            <a:ext cx="73152" cy="1371600"/>
          </a:xfrm>
          <a:prstGeom prst="rect">
            <a:avLst/>
          </a:prstGeom>
          <a:solidFill>
            <a:srgbClr val="1A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983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INOVAÇÃO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3949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DCDC"/>
                </a:solidFill>
                <a:latin typeface="Arial"/>
              </a:rPr>
              <a:t>Soluções tecnológicas de ponta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4846320"/>
            <a:ext cx="3474720" cy="1371600"/>
          </a:xfrm>
          <a:prstGeom prst="rect">
            <a:avLst/>
          </a:prstGeom>
          <a:solidFill>
            <a:srgbClr val="124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4846320"/>
            <a:ext cx="73152" cy="1371600"/>
          </a:xfrm>
          <a:prstGeom prst="rect">
            <a:avLst/>
          </a:prstGeom>
          <a:solidFill>
            <a:srgbClr val="1A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4983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RESULTADO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53949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DCDC"/>
                </a:solidFill>
                <a:latin typeface="Arial"/>
              </a:rPr>
              <a:t>Foco em impacto real nos negócios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4846320"/>
            <a:ext cx="3474720" cy="1371600"/>
          </a:xfrm>
          <a:prstGeom prst="rect">
            <a:avLst/>
          </a:prstGeom>
          <a:solidFill>
            <a:srgbClr val="124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4846320"/>
            <a:ext cx="73152" cy="1371600"/>
          </a:xfrm>
          <a:prstGeom prst="rect">
            <a:avLst/>
          </a:prstGeom>
          <a:solidFill>
            <a:srgbClr val="1A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4983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CONFIANÇA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53949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DCDC"/>
                </a:solidFill>
                <a:latin typeface="Arial"/>
              </a:rPr>
              <a:t>Parceria sólida e transparente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371600"/>
            <a:ext cx="301752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B7B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TIPOLOGIA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1A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B7B"/>
                </a:solidFill>
                <a:latin typeface="Arial"/>
              </a:rPr>
              <a:t>FONTE DO LOGOTIPO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Rajdhani Bold / Montserrat ExtraBold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CDCDC"/>
                </a:solidFill>
                <a:latin typeface="Arial"/>
              </a:rPr>
              <a:t>ABCDEFGHIJKLMNOPQRSTUVWXYZ
abcdefghijklmnopqrstuvwxyz
0123456789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87878"/>
                </a:solidFill>
                <a:latin typeface="Arial"/>
              </a:rPr>
              <a:t>Geométrica • Moderna • Tecnológica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463040"/>
            <a:ext cx="36576" cy="4114800"/>
          </a:xfrm>
          <a:prstGeom prst="rect">
            <a:avLst/>
          </a:prstGeom>
          <a:solidFill>
            <a:srgbClr val="1A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B7B"/>
                </a:solidFill>
                <a:latin typeface="Arial"/>
              </a:rPr>
              <a:t>FONTE DE COMUNICAÇÃO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965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Inter / Montserrat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560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H1 — Títulos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29183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H2 — Subtítulos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4023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Body — Corpo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4754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Caption — Legenda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5394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87878"/>
                </a:solidFill>
                <a:latin typeface="Arial"/>
              </a:rPr>
              <a:t>Legível • Versátil • Contemporânea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B7B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LOGOTIPO — APLICAÇÕES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1A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1247120" cy="219456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645920"/>
            <a:ext cx="5760720" cy="2011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8404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6B7B"/>
                </a:solidFill>
                <a:latin typeface="Arial"/>
              </a:rPr>
              <a:t>VERSÃO PRINCIPAL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251960"/>
            <a:ext cx="530352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343400"/>
            <a:ext cx="4937760" cy="1554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0350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6B7B"/>
                </a:solidFill>
                <a:latin typeface="Arial"/>
              </a:rPr>
              <a:t>VERSÃO HORIZONTAL — FUNDO CLARO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4251960"/>
            <a:ext cx="5303520" cy="1737360"/>
          </a:xfrm>
          <a:prstGeom prst="rect">
            <a:avLst/>
          </a:prstGeom>
          <a:solidFill>
            <a:srgbClr val="1A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4343400"/>
            <a:ext cx="4937760" cy="1554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0" y="60350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6B7B"/>
                </a:solidFill>
                <a:latin typeface="Arial"/>
              </a:rPr>
              <a:t>VERSÃO HORIZONTAL — FUNDO PETRÓLEO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B7B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SÍMBOLO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1A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320040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8920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6B7B"/>
                </a:solidFill>
                <a:latin typeface="Arial"/>
              </a:rPr>
              <a:t>SÍMBOLO
FUNDO ESCURO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645920"/>
            <a:ext cx="320040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89120" y="48920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6B7B"/>
                </a:solidFill>
                <a:latin typeface="Arial"/>
              </a:rPr>
              <a:t>SÍMBOLO
FUNDO PETRÓLEO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645920"/>
            <a:ext cx="3200400" cy="3200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38160" y="48920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6B7B"/>
                </a:solidFill>
                <a:latin typeface="Arial"/>
              </a:rPr>
              <a:t>SÍMBOLO
FUNDO CLARO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CDCDC"/>
                </a:solidFill>
                <a:latin typeface="Arial"/>
              </a:rPr>
              <a:t>O símbolo da GRCode é composto pelas letras 'G' e 'R',
representando a identidade da empresa de forma geométrica
e moderna. O desenho remete à tecnologia, precisão e inovação,
valores centrais da marca.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B7B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VERSÕES CROMÁTICAS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1A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00" cy="2103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00200"/>
            <a:ext cx="457200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602736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6B7B"/>
                </a:solidFill>
                <a:latin typeface="Arial"/>
              </a:rPr>
              <a:t>COLORIDA
(Fundo Preto)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54864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600200"/>
            <a:ext cx="4572000" cy="1828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09360" y="3602736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6B7B"/>
                </a:solidFill>
                <a:latin typeface="Arial"/>
              </a:rPr>
              <a:t>MONOCROMÁTICA
(Fundo Branco)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5486400" cy="210312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069080"/>
            <a:ext cx="4572000" cy="1828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6071616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6B7B"/>
                </a:solidFill>
                <a:latin typeface="Arial"/>
              </a:rPr>
              <a:t>ESCALA DE CINZA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931920"/>
            <a:ext cx="5486400" cy="2103120"/>
          </a:xfrm>
          <a:prstGeom prst="rect">
            <a:avLst/>
          </a:prstGeom>
          <a:solidFill>
            <a:srgbClr val="1A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4069080"/>
            <a:ext cx="4572000" cy="1828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09360" y="6071616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6B7B"/>
                </a:solidFill>
                <a:latin typeface="Arial"/>
              </a:rPr>
              <a:t>APLICAÇÃO
FUNDO PETRÓLEO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B7B"/>
                </a:solidFill>
                <a:latin typeface="Arial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CÓDIGOS CROMÁTICOS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1A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280160" cy="10515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PRETO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0116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6B7B"/>
                </a:solidFill>
                <a:latin typeface="Arial"/>
              </a:rPr>
              <a:t>HEX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26771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Arial"/>
              </a:rPr>
              <a:t>#000000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0116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6B7B"/>
                </a:solidFill>
                <a:latin typeface="Arial"/>
              </a:rPr>
              <a:t>RGB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26771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Arial"/>
              </a:rPr>
              <a:t>0 / 0 /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0116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6B7B"/>
                </a:solidFill>
                <a:latin typeface="Arial"/>
              </a:rPr>
              <a:t>CMYK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26771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Arial"/>
              </a:rPr>
              <a:t>0 0 0 100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20116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6B7B"/>
                </a:solidFill>
                <a:latin typeface="Arial"/>
              </a:rPr>
              <a:t>Pantone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226771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Arial"/>
              </a:rPr>
              <a:t>Process Black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20116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6B7B"/>
                </a:solidFill>
                <a:latin typeface="Arial"/>
              </a:rPr>
              <a:t>Escala de cinza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226771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Arial"/>
              </a:rPr>
              <a:t>Black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51760"/>
            <a:ext cx="11247120" cy="9144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788920"/>
            <a:ext cx="1280160" cy="1051560"/>
          </a:xfrm>
          <a:prstGeom prst="rect">
            <a:avLst/>
          </a:prstGeom>
          <a:solidFill>
            <a:srgbClr val="1A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2024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AZUL PETRÓLEO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2461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6B7B"/>
                </a:solidFill>
                <a:latin typeface="Arial"/>
              </a:rPr>
              <a:t>HEX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5021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Arial"/>
              </a:rPr>
              <a:t>#1A6B7B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2461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6B7B"/>
                </a:solidFill>
                <a:latin typeface="Arial"/>
              </a:rPr>
              <a:t>RGB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35021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Arial"/>
              </a:rPr>
              <a:t>26 / 107 / 123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2461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6B7B"/>
                </a:solidFill>
                <a:latin typeface="Arial"/>
              </a:rPr>
              <a:t>CMYK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5021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Arial"/>
              </a:rPr>
              <a:t>79 13 0 52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32461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6B7B"/>
                </a:solidFill>
                <a:latin typeface="Arial"/>
              </a:rPr>
              <a:t>Pantone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35021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Arial"/>
              </a:rPr>
              <a:t>7694 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32461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6B7B"/>
                </a:solidFill>
                <a:latin typeface="Arial"/>
              </a:rPr>
              <a:t>Escala de cinza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35021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Arial"/>
              </a:rPr>
              <a:t>60% Black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886200"/>
            <a:ext cx="11247120" cy="9144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4023360"/>
            <a:ext cx="12801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023360"/>
            <a:ext cx="12801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2024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BRANCO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44805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6B7B"/>
                </a:solidFill>
                <a:latin typeface="Arial"/>
              </a:rPr>
              <a:t>HEX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47365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Arial"/>
              </a:rPr>
              <a:t>#FFFFFF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31920" y="44805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6B7B"/>
                </a:solidFill>
                <a:latin typeface="Arial"/>
              </a:rPr>
              <a:t>RGB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47365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Arial"/>
              </a:rPr>
              <a:t>255/255/255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44805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6B7B"/>
                </a:solidFill>
                <a:latin typeface="Arial"/>
              </a:rPr>
              <a:t>CMYK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47365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Arial"/>
              </a:rPr>
              <a:t>0 0 0 0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80" y="44805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6B7B"/>
                </a:solidFill>
                <a:latin typeface="Arial"/>
              </a:rPr>
              <a:t>Pantone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80" y="47365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Arial"/>
              </a:rPr>
              <a:t>White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66960" y="44805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6B7B"/>
                </a:solidFill>
                <a:latin typeface="Arial"/>
              </a:rPr>
              <a:t>Escala de cinza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47365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Arial"/>
              </a:rPr>
              <a:t>0% Black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120640"/>
            <a:ext cx="11247120" cy="9144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5257800"/>
            <a:ext cx="1280160" cy="1051560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920240" y="5303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CINZA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20240" y="57150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6B7B"/>
                </a:solidFill>
                <a:latin typeface="Arial"/>
              </a:rPr>
              <a:t>HEX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20240" y="59710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Arial"/>
              </a:rPr>
              <a:t>#787878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31920" y="57150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6B7B"/>
                </a:solidFill>
                <a:latin typeface="Arial"/>
              </a:rPr>
              <a:t>RGB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31920" y="59710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Arial"/>
              </a:rPr>
              <a:t>120/120/120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0" y="57150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6B7B"/>
                </a:solidFill>
                <a:latin typeface="Arial"/>
              </a:rPr>
              <a:t>CMYK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0" y="59710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Arial"/>
              </a:rPr>
              <a:t>0 0 0 53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55280" y="57150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6B7B"/>
                </a:solidFill>
                <a:latin typeface="Arial"/>
              </a:rPr>
              <a:t>Pantone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55280" y="59710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Arial"/>
              </a:rPr>
              <a:t>Cool Gray 7 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66960" y="57150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6B7B"/>
                </a:solidFill>
                <a:latin typeface="Arial"/>
              </a:rPr>
              <a:t>Escala de cinza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66960" y="59710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Arial"/>
              </a:rPr>
              <a:t>50% Black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B7B"/>
                </a:solidFill>
                <a:latin typeface="Arial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ÁREA DE RESERVA E REDUÇÃO MÁXIMA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286000" cy="45720"/>
          </a:xfrm>
          <a:prstGeom prst="rect">
            <a:avLst/>
          </a:prstGeom>
          <a:solidFill>
            <a:srgbClr val="1A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6400800" cy="32004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2011680"/>
            <a:ext cx="5486400" cy="22860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2377440"/>
            <a:ext cx="4754880" cy="1554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6B7B"/>
                </a:solidFill>
                <a:latin typeface="Arial"/>
              </a:rP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606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6B7B"/>
                </a:solidFill>
                <a:latin typeface="Arial"/>
              </a:rPr>
              <a:t>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4617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6B7B"/>
                </a:solidFill>
                <a:latin typeface="Arial"/>
              </a:rP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600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6B7B"/>
                </a:solidFill>
                <a:latin typeface="Arial"/>
              </a:rPr>
              <a:t>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3776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CDCDC"/>
                </a:solidFill>
                <a:latin typeface="Arial"/>
              </a:rPr>
              <a:t>A área de reserva é o espaço mínimo livre ao redor do logotipo.
A unidade 'x' equivale à altura da letra maiúscula do logotipo.
Nenhum elemento gráfico, texto ou imagem deve invadir essa área.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B7B"/>
                </a:solidFill>
                <a:latin typeface="Arial"/>
              </a:rPr>
              <a:t>REDUÇÃO MÁXIMA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0116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Print
20mm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834640"/>
            <a:ext cx="1645920" cy="73152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8229600" y="3566160"/>
            <a:ext cx="1645920" cy="27432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0" y="20116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Digital
50px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834640"/>
            <a:ext cx="1645920" cy="73152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0241280" y="3566160"/>
            <a:ext cx="1645920" cy="27432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49377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DCDC"/>
                </a:solidFill>
                <a:latin typeface="Arial"/>
              </a:rPr>
              <a:t>Abaixo dos tamanhos mínimos indicados,
recomenda-se usar apenas o símbolo isolado.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B7B"/>
                </a:solidFill>
                <a:latin typeface="Arial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APLICAÇÕES — PAPELARIA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1A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577840" cy="3200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54480"/>
            <a:ext cx="5577840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8463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6B7B"/>
                </a:solidFill>
                <a:latin typeface="Arial"/>
              </a:rPr>
              <a:t>CARTÃO DE VISITA — FRENTE ESCURA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8463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6B7B"/>
                </a:solidFill>
                <a:latin typeface="Arial"/>
              </a:rPr>
              <a:t>CARTÃO DE VISITA — FRENTE PETRÓLEO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5029200"/>
            <a:ext cx="1645920" cy="2194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03520" y="4937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6B7B"/>
                </a:solidFill>
                <a:latin typeface="Arial"/>
              </a:rPr>
              <a:t>Papel Carta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0352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DCDC"/>
                </a:solidFill>
                <a:latin typeface="Arial"/>
              </a:rPr>
              <a:t>Toda papelaria institucional deve seguir os padrões cromáticos
definidos neste manual. O logotipo deve aparecer em destaque,
respeitando a área de reserva em todos os materiais.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B7B"/>
                </a:solidFill>
                <a:latin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APLICAÇÕES — UNIFORME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1A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029200" cy="5029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502920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00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6B7B"/>
                </a:solidFill>
                <a:latin typeface="Arial"/>
              </a:rPr>
              <a:t>CAMISA POLO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629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CDCDC"/>
                </a:solidFill>
                <a:latin typeface="Arial"/>
              </a:rPr>
              <a:t>Preta com detalhe petróleo • Logo branco no peito esquerdo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669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6B7B"/>
                </a:solidFill>
                <a:latin typeface="Arial"/>
              </a:rPr>
              <a:t>BONÉ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897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CDCDC"/>
                </a:solidFill>
                <a:latin typeface="Arial"/>
              </a:rPr>
              <a:t>Preto com aba petróleo • Logo branco centralizado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371600"/>
            <a:ext cx="4297680" cy="1828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200400" y="3474720"/>
            <a:ext cx="57607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365760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MANUAL DO LOGOTIPO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2976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E6EB"/>
                </a:solidFill>
                <a:latin typeface="Arial"/>
              </a:rPr>
              <a:t>© 2025 GRCode — Todos os direitos reservados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7548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www.grcode.com.br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